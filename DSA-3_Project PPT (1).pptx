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23680" y="1914184"/>
            <a:ext cx="7944639" cy="1640780"/>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rPr>
              <a:t>Automated Plagiarism Detection System Using Rolling Hash Techniques</a:t>
            </a:r>
            <a:br>
              <a:rPr lang="en-US" sz="4000" b="1" dirty="0">
                <a:solidFill>
                  <a:srgbClr val="C00000"/>
                </a:solidFill>
                <a:latin typeface="+mn-lt"/>
              </a:rPr>
            </a:br>
            <a:endParaRPr lang="en-US" sz="4000" b="1" dirty="0">
              <a:solidFill>
                <a:srgbClr val="C00000"/>
              </a:solidFill>
              <a:latin typeface="+mn-lt"/>
            </a:endParaRPr>
          </a:p>
        </p:txBody>
      </p:sp>
      <p:sp>
        <p:nvSpPr>
          <p:cNvPr id="3" name="Subtitle 2"/>
          <p:cNvSpPr>
            <a:spLocks noGrp="1"/>
          </p:cNvSpPr>
          <p:nvPr>
            <p:ph type="subTitle" idx="1"/>
          </p:nvPr>
        </p:nvSpPr>
        <p:spPr>
          <a:xfrm>
            <a:off x="3820358" y="3180332"/>
            <a:ext cx="4551284" cy="3806890"/>
          </a:xfrm>
        </p:spPr>
        <p:txBody>
          <a:bodyPr/>
          <a:lstStyle/>
          <a:p>
            <a:r>
              <a:rPr lang="en-US" dirty="0">
                <a:solidFill>
                  <a:srgbClr val="0070C0"/>
                </a:solidFill>
              </a:rPr>
              <a:t>Team Members</a:t>
            </a:r>
          </a:p>
          <a:p>
            <a:r>
              <a:rPr lang="en-US" sz="1800" kern="0" dirty="0">
                <a:solidFill>
                  <a:srgbClr val="0070C0"/>
                </a:solidFill>
                <a:effectLst/>
                <a:latin typeface="Times New Roman" panose="02020603050405020304" pitchFamily="18" charset="0"/>
                <a:ea typeface="Times New Roman" panose="02020603050405020304" pitchFamily="18" charset="0"/>
                <a:cs typeface="Gautami" panose="020B0502040204020203" pitchFamily="34" charset="0"/>
              </a:rPr>
              <a:t>Harshit Sajjanapu     2520030187</a:t>
            </a:r>
          </a:p>
          <a:p>
            <a:r>
              <a:rPr lang="en-US" sz="1800" kern="0" dirty="0">
                <a:solidFill>
                  <a:srgbClr val="0070C0"/>
                </a:solidFill>
                <a:latin typeface="Times New Roman" panose="02020603050405020304" pitchFamily="18" charset="0"/>
                <a:ea typeface="Times New Roman" panose="02020603050405020304" pitchFamily="18" charset="0"/>
                <a:cs typeface="Gautami" panose="020B0502040204020203" pitchFamily="34" charset="0"/>
              </a:rPr>
              <a:t>Krish Sureja             2520030134</a:t>
            </a:r>
          </a:p>
          <a:p>
            <a:r>
              <a:rPr lang="en-US" sz="1800" kern="0" dirty="0" err="1">
                <a:solidFill>
                  <a:srgbClr val="0070C0"/>
                </a:solidFill>
                <a:effectLst/>
                <a:latin typeface="Times New Roman" panose="02020603050405020304" pitchFamily="18" charset="0"/>
                <a:ea typeface="Times New Roman" panose="02020603050405020304" pitchFamily="18" charset="0"/>
                <a:cs typeface="Gautami" panose="020B0502040204020203" pitchFamily="34" charset="0"/>
              </a:rPr>
              <a:t>Shammruth</a:t>
            </a:r>
            <a:r>
              <a:rPr lang="en-US" sz="1800" kern="0" dirty="0">
                <a:solidFill>
                  <a:srgbClr val="0070C0"/>
                </a:solidFill>
                <a:effectLst/>
                <a:latin typeface="Times New Roman" panose="02020603050405020304" pitchFamily="18" charset="0"/>
                <a:ea typeface="Times New Roman" panose="02020603050405020304" pitchFamily="18" charset="0"/>
                <a:cs typeface="Gautami" panose="020B0502040204020203" pitchFamily="34" charset="0"/>
              </a:rPr>
              <a:t> B</a:t>
            </a:r>
            <a:r>
              <a:rPr lang="en-US" sz="1800" kern="0" dirty="0">
                <a:solidFill>
                  <a:srgbClr val="0070C0"/>
                </a:solidFill>
                <a:latin typeface="Times New Roman" panose="02020603050405020304" pitchFamily="18" charset="0"/>
                <a:ea typeface="Times New Roman" panose="02020603050405020304" pitchFamily="18" charset="0"/>
                <a:cs typeface="Gautami" panose="020B0502040204020203" pitchFamily="34" charset="0"/>
              </a:rPr>
              <a:t>huma  2520030191</a:t>
            </a:r>
            <a:endParaRPr lang="en-US" sz="18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endParaRPr>
          </a:p>
          <a:p>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Dr.Ch.Anuradha</a:t>
            </a: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Professor CSE</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9C01F349-403E-5DD6-1D27-5C5F796540CA}"/>
              </a:ext>
            </a:extLst>
          </p:cNvPr>
          <p:cNvSpPr txBox="1"/>
          <p:nvPr/>
        </p:nvSpPr>
        <p:spPr>
          <a:xfrm>
            <a:off x="655086" y="2587968"/>
            <a:ext cx="10881826" cy="3416320"/>
          </a:xfrm>
          <a:prstGeom prst="rect">
            <a:avLst/>
          </a:prstGeom>
          <a:noFill/>
        </p:spPr>
        <p:txBody>
          <a:bodyPr wrap="square">
            <a:spAutoFit/>
          </a:bodyPr>
          <a:lstStyle/>
          <a:p>
            <a:pPr>
              <a:lnSpc>
                <a:spcPct val="100000"/>
              </a:lnSpc>
              <a:spcAft>
                <a:spcPts val="200"/>
              </a:spcAft>
              <a:buNone/>
            </a:pPr>
            <a:r>
              <a:rPr lang="en-US" sz="1800" dirty="0">
                <a:effectLst/>
                <a:ea typeface="MS Mincho" panose="02020609040205080304" pitchFamily="49" charset="-128"/>
                <a:cs typeface="Times New Roman" panose="02020603050405020304" pitchFamily="18" charset="0"/>
              </a:rPr>
              <a:t>Identifying copied content across textual documents efficiently requires fast, computationally optimized string comparison algorithms. This project presents an automated Plagiarism Detection System designed to evaluate multiple documents by generating polynomial hash values and locating matching text segments. By leveraging rolling hash techniques (such as the Rabin-Karp algorithm), the system processes sliding text windows in O(N) time complexity, enabling rapid multi-document comparison.</a:t>
            </a:r>
            <a:br>
              <a:rPr lang="en-US" sz="1800" dirty="0">
                <a:effectLst/>
                <a:ea typeface="MS Mincho" panose="02020609040205080304" pitchFamily="49" charset="-128"/>
                <a:cs typeface="Times New Roman" panose="02020603050405020304" pitchFamily="18" charset="0"/>
              </a:rPr>
            </a:br>
            <a:br>
              <a:rPr lang="en-US" sz="1800" dirty="0">
                <a:effectLst/>
                <a:ea typeface="MS Mincho" panose="02020609040205080304" pitchFamily="49" charset="-128"/>
                <a:cs typeface="Times New Roman" panose="02020603050405020304" pitchFamily="18" charset="0"/>
              </a:rPr>
            </a:br>
            <a:r>
              <a:rPr lang="en-US" sz="1800" dirty="0">
                <a:effectLst/>
                <a:ea typeface="MS Mincho" panose="02020609040205080304" pitchFamily="49" charset="-128"/>
                <a:cs typeface="Times New Roman" panose="02020603050405020304" pitchFamily="18" charset="0"/>
              </a:rPr>
              <a:t>To ensure precision, the backend engine strictly handles hash collisions by performing direct string verifications whenever matching hash values are detected. The platform automatically calculates and reports similarity percentages across document pairs and renders an intuitive visualization interface that highlights duplicated passages in real time. Developed with a React.js frontend for dynamic text highlighting, a Node.js execution server for hash computation, and MongoDB for document storage, this project demonstrates an end-to-end implementation of efficient document comparison and collision handling techniques.</a:t>
            </a:r>
            <a:endParaRPr lang="en-IN" sz="1100" dirty="0">
              <a:effectLst/>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3DC7446E-3467-3D6F-3B2B-D4A733A3FB81}"/>
              </a:ext>
            </a:extLst>
          </p:cNvPr>
          <p:cNvSpPr txBox="1"/>
          <p:nvPr/>
        </p:nvSpPr>
        <p:spPr>
          <a:xfrm>
            <a:off x="701338" y="2907289"/>
            <a:ext cx="10789321" cy="2031325"/>
          </a:xfrm>
          <a:prstGeom prst="rect">
            <a:avLst/>
          </a:prstGeom>
          <a:noFill/>
        </p:spPr>
        <p:txBody>
          <a:bodyPr wrap="square">
            <a:spAutoFit/>
          </a:bodyPr>
          <a:lstStyle/>
          <a:p>
            <a:r>
              <a:rPr lang="en-IN" dirty="0"/>
              <a:t>Plagiarism detection is essential in academic, professional, and digital content environments.</a:t>
            </a:r>
          </a:p>
          <a:p>
            <a:r>
              <a:rPr lang="en-IN" dirty="0"/>
              <a:t>Manual comparison of large documents is time-consuming and inefficient.</a:t>
            </a:r>
          </a:p>
          <a:p>
            <a:r>
              <a:rPr lang="en-IN" dirty="0"/>
              <a:t>Traditional approaches may become computationally expensive when comparing multiple documents.</a:t>
            </a:r>
          </a:p>
          <a:p>
            <a:r>
              <a:rPr lang="en-IN" dirty="0"/>
              <a:t>This project introduces an automated system that uses rolling hash techniques for rapid text matching.</a:t>
            </a:r>
          </a:p>
          <a:p>
            <a:r>
              <a:rPr lang="en-IN" dirty="0"/>
              <a:t>The system compares document content, detects matching segments, calculates similarity, and visually highlights duplicated text.</a:t>
            </a:r>
          </a:p>
          <a:p>
            <a:r>
              <a:rPr lang="en-IN" dirty="0"/>
              <a:t>The goal is to provide a fast, reliable, and user-friendly document comparison platform.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5" name="TextBox 4">
            <a:extLst>
              <a:ext uri="{FF2B5EF4-FFF2-40B4-BE49-F238E27FC236}">
                <a16:creationId xmlns:a16="http://schemas.microsoft.com/office/drawing/2014/main" id="{657B8DED-80A0-3DD1-D9BA-C03751D43E92}"/>
              </a:ext>
            </a:extLst>
          </p:cNvPr>
          <p:cNvSpPr txBox="1"/>
          <p:nvPr/>
        </p:nvSpPr>
        <p:spPr>
          <a:xfrm>
            <a:off x="1618824" y="2664691"/>
            <a:ext cx="8954349" cy="2862322"/>
          </a:xfrm>
          <a:prstGeom prst="rect">
            <a:avLst/>
          </a:prstGeom>
          <a:noFill/>
        </p:spPr>
        <p:txBody>
          <a:bodyPr wrap="square">
            <a:spAutoFit/>
          </a:bodyPr>
          <a:lstStyle/>
          <a:p>
            <a:r>
              <a:rPr lang="en-IN" dirty="0"/>
              <a:t>Existing plagiarism detection methods use techniques such as string matching, fingerprinting, n-grams, and semantic analysis.</a:t>
            </a:r>
          </a:p>
          <a:p>
            <a:r>
              <a:rPr lang="en-IN" dirty="0"/>
              <a:t>Traditional exact string comparison can become inefficient for large documents.</a:t>
            </a:r>
          </a:p>
          <a:p>
            <a:r>
              <a:rPr lang="en-IN" dirty="0"/>
              <a:t>Hash-based algorithms improve performance by converting text segments into compact numerical representations.</a:t>
            </a:r>
          </a:p>
          <a:p>
            <a:r>
              <a:rPr lang="en-IN" dirty="0"/>
              <a:t>The Rabin–Karp algorithm uses rolling hash values to efficiently locate matching patterns.</a:t>
            </a:r>
          </a:p>
          <a:p>
            <a:r>
              <a:rPr lang="en-IN" dirty="0"/>
              <a:t>However, identical hash values can sometimes produce hash collisions, requiring additional verification.</a:t>
            </a:r>
          </a:p>
          <a:p>
            <a:r>
              <a:rPr lang="en-IN" dirty="0"/>
              <a:t>Our proposed system combines efficient rolling hash computation with direct string verification and similarity analysis for reliable detection.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BBA62D0E-0B59-7176-7BF3-29B296375800}"/>
              </a:ext>
            </a:extLst>
          </p:cNvPr>
          <p:cNvSpPr txBox="1"/>
          <p:nvPr/>
        </p:nvSpPr>
        <p:spPr>
          <a:xfrm>
            <a:off x="1611863" y="1858767"/>
            <a:ext cx="9752822" cy="3693319"/>
          </a:xfrm>
          <a:prstGeom prst="rect">
            <a:avLst/>
          </a:prstGeom>
          <a:noFill/>
        </p:spPr>
        <p:txBody>
          <a:bodyPr wrap="square">
            <a:spAutoFit/>
          </a:bodyPr>
          <a:lstStyle/>
          <a:p>
            <a:r>
              <a:rPr lang="en-IN" dirty="0"/>
              <a:t>Problem Statement</a:t>
            </a:r>
          </a:p>
          <a:p>
            <a:endParaRPr lang="en-IN" dirty="0"/>
          </a:p>
          <a:p>
            <a:r>
              <a:rPr lang="en-IN" dirty="0"/>
              <a:t>Comparing multiple documents manually or using computationally expensive methods makes plagiarism detection slow and difficult to scale. An efficient mechanism is required to identify duplicated text accurately.</a:t>
            </a:r>
          </a:p>
          <a:p>
            <a:endParaRPr lang="en-IN" dirty="0"/>
          </a:p>
          <a:p>
            <a:r>
              <a:rPr lang="en-IN" dirty="0"/>
              <a:t>Objectives</a:t>
            </a:r>
          </a:p>
          <a:p>
            <a:r>
              <a:rPr lang="en-IN" dirty="0"/>
              <a:t>Detect matching or duplicated text segments between documents.</a:t>
            </a:r>
          </a:p>
          <a:p>
            <a:r>
              <a:rPr lang="en-IN" dirty="0"/>
              <a:t>Use Polynomial Rolling Hash / Rabin–Karp for efficient comparison.</a:t>
            </a:r>
          </a:p>
          <a:p>
            <a:r>
              <a:rPr lang="en-IN" dirty="0"/>
              <a:t>Process text using sliding windows in O(N) time complexity.</a:t>
            </a:r>
          </a:p>
          <a:p>
            <a:r>
              <a:rPr lang="en-IN" dirty="0"/>
              <a:t>Handle hash collisions through direct string verification.</a:t>
            </a:r>
          </a:p>
          <a:p>
            <a:r>
              <a:rPr lang="en-IN" dirty="0"/>
              <a:t>Calculate document similarity percentages.</a:t>
            </a:r>
          </a:p>
          <a:p>
            <a:r>
              <a:rPr lang="en-IN" dirty="0"/>
              <a:t>Highlight duplicated passages through an interactive user interface.</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744047" y="154134"/>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5" name="Picture 4">
            <a:extLst>
              <a:ext uri="{FF2B5EF4-FFF2-40B4-BE49-F238E27FC236}">
                <a16:creationId xmlns:a16="http://schemas.microsoft.com/office/drawing/2014/main" id="{84754A8F-AA96-6F58-3B7E-423064F20E2D}"/>
              </a:ext>
            </a:extLst>
          </p:cNvPr>
          <p:cNvPicPr>
            <a:picLocks noChangeAspect="1"/>
          </p:cNvPicPr>
          <p:nvPr/>
        </p:nvPicPr>
        <p:blipFill>
          <a:blip r:embed="rId2"/>
          <a:stretch>
            <a:fillRect/>
          </a:stretch>
        </p:blipFill>
        <p:spPr>
          <a:xfrm>
            <a:off x="3662264" y="806448"/>
            <a:ext cx="5184711" cy="58298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5" name="TextBox 4">
            <a:extLst>
              <a:ext uri="{FF2B5EF4-FFF2-40B4-BE49-F238E27FC236}">
                <a16:creationId xmlns:a16="http://schemas.microsoft.com/office/drawing/2014/main" id="{B0450729-C5D8-5E73-F90E-E9771BD2899E}"/>
              </a:ext>
            </a:extLst>
          </p:cNvPr>
          <p:cNvSpPr txBox="1"/>
          <p:nvPr/>
        </p:nvSpPr>
        <p:spPr>
          <a:xfrm>
            <a:off x="1583871" y="2038081"/>
            <a:ext cx="9370267" cy="3416320"/>
          </a:xfrm>
          <a:prstGeom prst="rect">
            <a:avLst/>
          </a:prstGeom>
          <a:noFill/>
        </p:spPr>
        <p:txBody>
          <a:bodyPr wrap="square">
            <a:spAutoFit/>
          </a:bodyPr>
          <a:lstStyle/>
          <a:p>
            <a:r>
              <a:rPr lang="en-IN" sz="2400" dirty="0"/>
              <a:t>Successfully compares textual documents to identify duplicated content.</a:t>
            </a:r>
          </a:p>
          <a:p>
            <a:r>
              <a:rPr lang="en-IN" sz="2400" dirty="0"/>
              <a:t>Generates hash values for text segments using the rolling hash technique.</a:t>
            </a:r>
          </a:p>
          <a:p>
            <a:r>
              <a:rPr lang="en-IN" sz="2400" dirty="0"/>
              <a:t>Detects potential matching segments efficiently.</a:t>
            </a:r>
          </a:p>
          <a:p>
            <a:r>
              <a:rPr lang="en-IN" sz="2400" dirty="0"/>
              <a:t>Performs direct string verification to eliminate false matches caused by hash collisions.</a:t>
            </a:r>
          </a:p>
          <a:p>
            <a:r>
              <a:rPr lang="en-IN" sz="2400" dirty="0"/>
              <a:t>Calculates and displays similarity percentages between document pairs.</a:t>
            </a:r>
          </a:p>
          <a:p>
            <a:r>
              <a:rPr lang="en-IN" sz="2400" dirty="0"/>
              <a:t>Highlights duplicated passages in the user interface.</a:t>
            </a:r>
          </a:p>
          <a:p>
            <a:r>
              <a:rPr lang="en-IN" sz="2400" dirty="0"/>
              <a:t>Demonstrates efficient document comparison with improved speed and accuracy.</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103866" y="221673"/>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877910" y="262038"/>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5" name="TextBox 4">
            <a:extLst>
              <a:ext uri="{FF2B5EF4-FFF2-40B4-BE49-F238E27FC236}">
                <a16:creationId xmlns:a16="http://schemas.microsoft.com/office/drawing/2014/main" id="{DEF95103-EEA7-6015-7F05-8D5E5A65080F}"/>
              </a:ext>
            </a:extLst>
          </p:cNvPr>
          <p:cNvSpPr txBox="1"/>
          <p:nvPr/>
        </p:nvSpPr>
        <p:spPr>
          <a:xfrm>
            <a:off x="3103866" y="1545017"/>
            <a:ext cx="6236077" cy="4093428"/>
          </a:xfrm>
          <a:prstGeom prst="rect">
            <a:avLst/>
          </a:prstGeom>
          <a:noFill/>
        </p:spPr>
        <p:txBody>
          <a:bodyPr wrap="square">
            <a:spAutoFit/>
          </a:bodyPr>
          <a:lstStyle/>
          <a:p>
            <a:r>
              <a:rPr lang="en-IN" sz="2000" dirty="0"/>
              <a:t>Hardware Requirements</a:t>
            </a:r>
          </a:p>
          <a:p>
            <a:r>
              <a:rPr lang="en-IN" sz="2000" dirty="0"/>
              <a:t>Processor: Intel i3 or above</a:t>
            </a:r>
          </a:p>
          <a:p>
            <a:r>
              <a:rPr lang="en-IN" sz="2000" dirty="0"/>
              <a:t>RAM: 4 GB minimum, 8 GB recommended</a:t>
            </a:r>
          </a:p>
          <a:p>
            <a:r>
              <a:rPr lang="en-IN" sz="2000" dirty="0"/>
              <a:t>Storage: Minimum 1 GB free space</a:t>
            </a:r>
          </a:p>
          <a:p>
            <a:r>
              <a:rPr lang="en-IN" sz="2000" dirty="0"/>
              <a:t>Internet connection for deployment or online access</a:t>
            </a:r>
          </a:p>
          <a:p>
            <a:endParaRPr lang="en-IN" sz="2000" dirty="0"/>
          </a:p>
          <a:p>
            <a:r>
              <a:rPr lang="en-IN" sz="2000" dirty="0"/>
              <a:t>Software Requirements</a:t>
            </a:r>
          </a:p>
          <a:p>
            <a:r>
              <a:rPr lang="en-IN" sz="2000" dirty="0"/>
              <a:t>Frontend: React.js, HTML5, CSS3</a:t>
            </a:r>
          </a:p>
          <a:p>
            <a:r>
              <a:rPr lang="en-IN" sz="2000" dirty="0"/>
              <a:t>Backend: Node.js, Express.js</a:t>
            </a:r>
          </a:p>
          <a:p>
            <a:r>
              <a:rPr lang="en-IN" sz="2000" dirty="0"/>
              <a:t>Algorithm: Polynomial Rolling Hash, Rabin–Karp</a:t>
            </a:r>
          </a:p>
          <a:p>
            <a:r>
              <a:rPr lang="en-IN" sz="2000" dirty="0"/>
              <a:t>Database: MongoDB with Mongoose ODM</a:t>
            </a:r>
          </a:p>
          <a:p>
            <a:r>
              <a:rPr lang="en-IN" sz="2000" dirty="0"/>
              <a:t>Development Tools: VS Code, Git, Postman</a:t>
            </a:r>
          </a:p>
          <a:p>
            <a:r>
              <a:rPr lang="en-IN" sz="2000" dirty="0"/>
              <a:t>Platform: Windows/Linux/macOS</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EC2E5DF5-2DE0-C53B-4036-03FB217C62D5}"/>
              </a:ext>
            </a:extLst>
          </p:cNvPr>
          <p:cNvSpPr txBox="1"/>
          <p:nvPr/>
        </p:nvSpPr>
        <p:spPr>
          <a:xfrm>
            <a:off x="1667457" y="1804815"/>
            <a:ext cx="9174325" cy="4154984"/>
          </a:xfrm>
          <a:prstGeom prst="rect">
            <a:avLst/>
          </a:prstGeom>
          <a:noFill/>
        </p:spPr>
        <p:txBody>
          <a:bodyPr wrap="square">
            <a:spAutoFit/>
          </a:bodyPr>
          <a:lstStyle/>
          <a:p>
            <a:r>
              <a:rPr lang="en-US" sz="2400" dirty="0"/>
              <a:t>The project presents an efficient solution for automated plagiarism detection.</a:t>
            </a:r>
          </a:p>
          <a:p>
            <a:r>
              <a:rPr lang="en-US" sz="2400" dirty="0"/>
              <a:t>Rolling hash and Rabin–Karp techniques enable fast comparison of textual documents.</a:t>
            </a:r>
          </a:p>
          <a:p>
            <a:r>
              <a:rPr lang="en-US" sz="2400" dirty="0"/>
              <a:t>Direct string verification improves reliability by handling hash collisions.</a:t>
            </a:r>
          </a:p>
          <a:p>
            <a:r>
              <a:rPr lang="en-US" sz="2400" dirty="0"/>
              <a:t>The system provides both similarity analysis and real-time visualization of duplicated content.</a:t>
            </a:r>
          </a:p>
          <a:p>
            <a:r>
              <a:rPr lang="en-US" sz="2400" dirty="0"/>
              <a:t>Integration of React.js, Node.js, and MongoDB creates a complete end-to-end application.</a:t>
            </a:r>
          </a:p>
          <a:p>
            <a:r>
              <a:rPr lang="en-US" sz="2400" dirty="0"/>
              <a:t>The system demonstrates how efficient algorithms can improve the speed and effectiveness of document comparison.</a:t>
            </a:r>
            <a:endParaRPr lang="en-IN"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440F3875-9843-6327-A1DA-E5AF4ED37A60}"/>
              </a:ext>
            </a:extLst>
          </p:cNvPr>
          <p:cNvSpPr txBox="1"/>
          <p:nvPr/>
        </p:nvSpPr>
        <p:spPr>
          <a:xfrm>
            <a:off x="1817137" y="2737877"/>
            <a:ext cx="9314283" cy="2031325"/>
          </a:xfrm>
          <a:prstGeom prst="rect">
            <a:avLst/>
          </a:prstGeom>
          <a:noFill/>
        </p:spPr>
        <p:txBody>
          <a:bodyPr wrap="square">
            <a:spAutoFit/>
          </a:bodyPr>
          <a:lstStyle/>
          <a:p>
            <a:r>
              <a:rPr lang="en-IN" dirty="0"/>
              <a:t>Support for additional document formats such as PDF, DOCX, and TXT.</a:t>
            </a:r>
          </a:p>
          <a:p>
            <a:r>
              <a:rPr lang="en-IN" dirty="0"/>
              <a:t>Integration of semantic analysis to detect paraphrased or meaningfully similar content.</a:t>
            </a:r>
          </a:p>
          <a:p>
            <a:r>
              <a:rPr lang="en-IN" dirty="0"/>
              <a:t>Use of machine learning and NLP techniques for advanced plagiarism detection.</a:t>
            </a:r>
          </a:p>
          <a:p>
            <a:r>
              <a:rPr lang="en-IN" dirty="0"/>
              <a:t>Support for large-scale comparison against extensive document repositories.</a:t>
            </a:r>
          </a:p>
          <a:p>
            <a:r>
              <a:rPr lang="en-IN" dirty="0"/>
              <a:t>Cloud deployment for improved scalability and accessibility.</a:t>
            </a:r>
          </a:p>
          <a:p>
            <a:r>
              <a:rPr lang="en-IN" dirty="0"/>
              <a:t>Generate detailed downloadable plagiarism reports.</a:t>
            </a:r>
          </a:p>
          <a:p>
            <a:r>
              <a:rPr lang="en-IN" dirty="0"/>
              <a:t>Improve multilingual document comparison and detection capabilities.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689</TotalTime>
  <Words>818</Words>
  <Application>Microsoft Office PowerPoint</Application>
  <PresentationFormat>Widescreen</PresentationFormat>
  <Paragraphs>85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MS Mincho</vt:lpstr>
      <vt:lpstr>Arial</vt:lpstr>
      <vt:lpstr>Calibri</vt:lpstr>
      <vt:lpstr>Times New Roman</vt:lpstr>
      <vt:lpstr>Office Theme</vt:lpstr>
      <vt:lpstr>       Data Structures and Algorithms -3 (25CS2103E)  Automated Plagiarism Detection System Using Rolling Hash Techniques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harshit.sajjanapu@outlook.com</cp:lastModifiedBy>
  <cp:revision>30</cp:revision>
  <dcterms:created xsi:type="dcterms:W3CDTF">2024-08-29T05:25:00Z</dcterms:created>
  <dcterms:modified xsi:type="dcterms:W3CDTF">2026-08-31T13:28:35Z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